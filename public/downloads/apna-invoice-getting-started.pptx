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0"/>
            <a:ext cx="2194560" cy="5143500"/>
          </a:xfrm>
          <a:prstGeom prst="rect">
            <a:avLst/>
          </a:prstGeom>
          <a:solidFill>
            <a:srgbClr val="162C6B"/>
          </a:solidFill>
          <a:ln w="12700">
            <a:solidFill>
              <a:srgbClr val="162C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914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1440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नमस्ते · Welcome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free GST invoice generator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B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Indian MSMEs, SMEs, freelancers &amp; small shops.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023360"/>
            <a:ext cx="2377440" cy="365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023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17-SLIDE QUICK START</a:t>
            </a:r>
            <a:endParaRPr lang="en-US" sz="11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828800"/>
            <a:ext cx="1188720" cy="11887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9494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apnainvoice.com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PROMISE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GST invoice in 60 seconds.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during beta · No card required · Unlimited invoices · Made in India.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265176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03120"/>
            <a:ext cx="2651760" cy="1645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560320"/>
            <a:ext cx="640080" cy="6400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70662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32918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60s</a:t>
            </a:r>
            <a:endParaRPr lang="en-US" sz="5600" dirty="0"/>
          </a:p>
        </p:txBody>
      </p:sp>
      <p:sp>
        <p:nvSpPr>
          <p:cNvPr id="12" name="Text 9"/>
          <p:cNvSpPr/>
          <p:nvPr/>
        </p:nvSpPr>
        <p:spPr>
          <a:xfrm>
            <a:off x="731520" y="4023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signup to your first PDF.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91840" y="2103120"/>
            <a:ext cx="265176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2103120"/>
            <a:ext cx="265176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66160" y="2560320"/>
            <a:ext cx="640080" cy="6400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464" y="2706624"/>
            <a:ext cx="347472" cy="34747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566160" y="32918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0₹</a:t>
            </a:r>
            <a:endParaRPr lang="en-US" sz="5600" dirty="0"/>
          </a:p>
        </p:txBody>
      </p:sp>
      <p:sp>
        <p:nvSpPr>
          <p:cNvPr id="18" name="Text 14"/>
          <p:cNvSpPr/>
          <p:nvPr/>
        </p:nvSpPr>
        <p:spPr>
          <a:xfrm>
            <a:off x="3566160" y="4023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during beta. No card. Unlimited invoices.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26480" y="2103120"/>
            <a:ext cx="265176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126480" y="2103120"/>
            <a:ext cx="2651760" cy="16459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400800" y="2560320"/>
            <a:ext cx="640080" cy="64008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4" y="2706624"/>
            <a:ext cx="347472" cy="34747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400800" y="32918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600" dirty="0"/>
          </a:p>
        </p:txBody>
      </p:sp>
      <p:sp>
        <p:nvSpPr>
          <p:cNvPr id="24" name="Text 19"/>
          <p:cNvSpPr/>
          <p:nvPr/>
        </p:nvSpPr>
        <p:spPr>
          <a:xfrm>
            <a:off x="6400800" y="4023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GST-compliant — CGST/SGST/IGST, HSN/SAC, place of supply.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Indian businesses under ₹5 cr turnover.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turnover is under ₹5 crore, this app fits you. Above that, you'll need e-invoicing (IRN/QR) which is on our roadmap.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4023360" cy="1188720"/>
          </a:xfrm>
          <a:prstGeom prst="rect">
            <a:avLst/>
          </a:prstGeom>
          <a:solidFill>
            <a:srgbClr val="EEF3FC"/>
          </a:solidFill>
          <a:ln w="12700">
            <a:solidFill>
              <a:srgbClr val="DBE3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86000"/>
            <a:ext cx="640080" cy="64008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432304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5448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Freelancers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554480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Consultants, designers, developers, content creators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09160" y="2011680"/>
            <a:ext cx="4023360" cy="1188720"/>
          </a:xfrm>
          <a:prstGeom prst="rect">
            <a:avLst/>
          </a:prstGeom>
          <a:solidFill>
            <a:srgbClr val="EEF3FC"/>
          </a:solidFill>
          <a:ln w="12700">
            <a:solidFill>
              <a:srgbClr val="DBE3F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83480" y="2286000"/>
            <a:ext cx="640080" cy="64008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784" y="2432304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80644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shops &amp; MSMEs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5806440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Retailers, traders, manufacturers, restaurants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3337560"/>
            <a:ext cx="4023360" cy="1188720"/>
          </a:xfrm>
          <a:prstGeom prst="rect">
            <a:avLst/>
          </a:prstGeom>
          <a:solidFill>
            <a:srgbClr val="EEF3FC"/>
          </a:solidFill>
          <a:ln w="12700">
            <a:solidFill>
              <a:srgbClr val="DBE3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31520" y="3611880"/>
            <a:ext cx="640080" cy="64008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375818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Startups &amp; SMEs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554480" y="39959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businesses, SaaS, agencies, D2C brands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09160" y="3337560"/>
            <a:ext cx="4023360" cy="1188720"/>
          </a:xfrm>
          <a:prstGeom prst="rect">
            <a:avLst/>
          </a:prstGeom>
          <a:solidFill>
            <a:srgbClr val="EEF3FC"/>
          </a:solidFill>
          <a:ln w="12700">
            <a:solidFill>
              <a:srgbClr val="DBE3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983480" y="3611880"/>
            <a:ext cx="640080" cy="64008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784" y="375818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80644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&amp; accountants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5806440" y="39959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your own clients, share access for audit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 steps you'll repeat every month.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2606040"/>
            <a:ext cx="8138160" cy="36576"/>
          </a:xfrm>
          <a:prstGeom prst="rect">
            <a:avLst/>
          </a:prstGeom>
          <a:solidFill>
            <a:srgbClr val="DBE3F5"/>
          </a:solidFill>
          <a:ln w="12700">
            <a:solidFill>
              <a:srgbClr val="DBE3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20240"/>
            <a:ext cx="777240" cy="77724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3120"/>
            <a:ext cx="411480" cy="411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43000" y="2423160"/>
            <a:ext cx="310896" cy="310896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430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2860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1920240"/>
            <a:ext cx="777240" cy="77724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103120"/>
            <a:ext cx="411480" cy="4114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2377440" y="2423160"/>
            <a:ext cx="310896" cy="310896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37744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46304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017520" y="1920240"/>
            <a:ext cx="777240" cy="77724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103120"/>
            <a:ext cx="411480" cy="4114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3611880" y="2423160"/>
            <a:ext cx="310896" cy="310896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61188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269748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251960" y="1920240"/>
            <a:ext cx="777240" cy="77724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103120"/>
            <a:ext cx="411480" cy="41148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4846320" y="2423160"/>
            <a:ext cx="310896" cy="310896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84632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393192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5486400" y="1920240"/>
            <a:ext cx="777240" cy="77724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2103120"/>
            <a:ext cx="411480" cy="41148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6080760" y="2423160"/>
            <a:ext cx="310896" cy="310896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608076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516636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share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720840" y="1920240"/>
            <a:ext cx="777240" cy="77724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2103120"/>
            <a:ext cx="411480" cy="411480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7315200" y="2423160"/>
            <a:ext cx="310896" cy="310896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73152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640080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7955280" y="1920240"/>
            <a:ext cx="777240" cy="77724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0" y="2103120"/>
            <a:ext cx="411480" cy="411480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8549640" y="2423160"/>
            <a:ext cx="310896" cy="310896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854964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1" name="Text 32"/>
          <p:cNvSpPr/>
          <p:nvPr/>
        </p:nvSpPr>
        <p:spPr>
          <a:xfrm>
            <a:off x="763524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1200" dirty="0"/>
          </a:p>
        </p:txBody>
      </p:sp>
      <p:sp>
        <p:nvSpPr>
          <p:cNvPr id="42" name="Shape 33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solidFill>
            <a:srgbClr val="EEF3FC"/>
          </a:solidFill>
          <a:ln w="12700">
            <a:solidFill>
              <a:srgbClr val="DBE3F5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640080" y="4023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1–3 are one-time setup. Steps 4–7 take ~30 seconds per invoice once you're set up.</a:t>
            </a:r>
            <a:endParaRPr lang="en-US" sz="1300" dirty="0"/>
          </a:p>
        </p:txBody>
      </p:sp>
      <p:sp>
        <p:nvSpPr>
          <p:cNvPr id="44" name="Text 35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45" name="Text 36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029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502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ONE-TIME SETUP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777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your business profile.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88720" y="129844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minutes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GSTIN, PAN, address and state appear as the letterhead on every invoice. Set them once.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7043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drives GST.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Intra-state = CGST+SGST. Inter-state = IGST.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5603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2239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prefix.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INV/26-27/0001 — auto FY-reset.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3756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7043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&amp; signature.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once — printed on every PDF.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0916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33756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2239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ID &amp; bank.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 UPI QR to every invoice automatically.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The state setting is the single most-important field. Without it, GST math can't work.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029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502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ONE-TIME SETUP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777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customers.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88720" y="129844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per customer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name, GSTIN, address, state, email and mobile once. Pick from a dropdown on every invoice.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7043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 validated.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15-digit format + state code prefix check.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5603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2239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is searchable.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 find a customer's invoices.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3756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7043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vs B2C auto.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 present = B2B. Empty = B2C.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0916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33756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2239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deleted.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with invoices stay for audit.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GSTIN starts with the state code (e.g. 06 = Haryana, 27 = Maharashtra) — we cross-check this for you.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029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502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OPTIONAL BUT WORTH IT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777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products &amp; services.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88720" y="129844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per item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things you sell — name, HSN/SAC, unit, default rate, GST%. Picking a product on the invoice form auto-fills all those fields.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7043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HSN vs SAC.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Goods: 4–8 digit HSN. Services: SAC (starts 99).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5603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2239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UQC units.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CBIC codes — NOS, KGS, LTR, HRS.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3756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7043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Archived, not deleted.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products stay on history.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0916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33756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2239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clicks to invoice.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+ product = ready to save.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Skip this step if you sell unique items every time. Add it later when you spot repeats.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029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502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DAILY USE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777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invoice.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88720" y="129844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30 seconds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New invoice → pick a template (or blank) → choose customer → add line items (or pick from products) → save. We auto-compute CGST/SGST or IGST.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7043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vs Final.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editable; finalize locks the number.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5603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2239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Classic, Bold, Minimal, Retail, Heritage.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3756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7043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charge.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Tick-box for RCM under Section 9(3)/9(4).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0916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33756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2239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fields.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Transporter &amp; e-way bill open only if shipping.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Save draft first, review, then Finalize — that's how the pros work.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math, calculated automatically.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pick the right tax type by comparing your state with the customer's state.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4023360" cy="2606040"/>
          </a:xfrm>
          <a:prstGeom prst="rect">
            <a:avLst/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INTRA-STATE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3774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CGST + SGST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3152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state as customer.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291840"/>
            <a:ext cx="34747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375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₹10,000 @ 18%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CGST 9% = ₹900   ·   SGST 9% = ₹900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₹11,800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920240"/>
            <a:ext cx="4023360" cy="2606040"/>
          </a:xfrm>
          <a:prstGeom prst="rect">
            <a:avLst/>
          </a:prstGeom>
          <a:solidFill>
            <a:srgbClr val="FFEDD5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INTER-STATE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37760" y="23774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IGST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93776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state from customer.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37760" y="3291840"/>
            <a:ext cx="34747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74920" y="33375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₹10,000 @ 18%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IGST 18% = ₹1,800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₹11,800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way the customer pays the same total — only the split differs. We round to the paisa.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029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502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FINALIZE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777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number, generate the PDF.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88720" y="129844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Finalize — we assign the next invoice number in your series and lock the amounts. The invoice is now legally issued.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7043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FY reset.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INV/26-27/0001 → 27-28/0001 on 1 Apr.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5603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2239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edits OK.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Notes, terms, due date, transporter remain editable.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3756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7043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edits blocked.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Amounts, items, customer locked per GST rule.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0916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33756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2239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≠ delete.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needs a reason; number kept.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 correct a finalized invoice, issue a credit note. The audit trail stays clean.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SHARE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ways to deliver the invoice.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whichever channel your customer prefers — all four are one click away.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4023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920240"/>
            <a:ext cx="1005840" cy="11887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3317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PDF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645920" y="25786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or save. Ink-saver mode by default.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09160" y="1920240"/>
            <a:ext cx="4023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1920240"/>
            <a:ext cx="1005840" cy="1188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3317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89788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with PDF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5897880" y="25786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pre-filled. Auto-attaches the PDF.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3246120"/>
            <a:ext cx="4023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7200" y="3246120"/>
            <a:ext cx="1005840" cy="1188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576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45920" y="3520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share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1645920" y="3904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Pre-filled message. Works on any phone.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09160" y="3246120"/>
            <a:ext cx="4023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709160" y="3246120"/>
            <a:ext cx="1005840" cy="1188720"/>
          </a:xfrm>
          <a:prstGeom prst="rect">
            <a:avLst/>
          </a:prstGeom>
          <a:solidFill>
            <a:srgbClr val="162C6B"/>
          </a:solidFill>
          <a:ln w="12700">
            <a:solidFill>
              <a:srgbClr val="162C6B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657600"/>
            <a:ext cx="457200" cy="4572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897880" y="3520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public link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5897880" y="3904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signed URL. No login needed for customer.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Cancelled invoices instantly revoke the public link — no expired-link cleanup needed.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029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502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AMEND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777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to fix a finalized invoice? Use credit notes.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88720" y="129844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mistakes happen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rules don't allow silent edits to a finalized invoice. Issue a credit note (Section 34 CGST) for returns, rate corrections or post-sale discounts.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7043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notes auto-link.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to original invoice — GSTR-1 ready.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5603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2239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Auto-reduces balance.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updates immediately.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3756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7043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for full reversal.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short reason for audit.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0916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33756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2239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link revoked.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kills the share link instantly.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Cancellation keeps the invoice number reserved — you can never re-use it.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029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502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· WHEN PAYMENT ARRIVES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777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payments &amp; issue receipts.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88720" y="129844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seconds per payment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finalized invoice, fill the Record a payment form — amount, method, date, reference. We generate a sequential receipt number, update the balance, and produce a printable receipt PDF.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7043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payments.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₹2,000 today, ₹3,000 next week — balance recomputes.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5603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2239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TDS captured.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+ rate stored for Form 26AS reconciliation.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3756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7043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anything.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entry? Reverse — balance restored, receipt logged.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0916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33756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2239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/ cheque ref.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on the receipt PDF for proof of payment.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Status auto-flips: Final → Partially paid → Paid as you record receipts.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&amp; OVERHEAD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money going out, too.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aren't the whole story. Capture the other side for accurate P&amp;L.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40233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920240"/>
            <a:ext cx="4023360" cy="16459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331720"/>
            <a:ext cx="640080" cy="64008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47802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554480" y="2286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MEMO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5544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cash purchases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31520" y="3108960"/>
            <a:ext cx="3474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name &amp; GSTIN, line items with HSN/SAC, GST split.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in your name as buyer — proof of purchase, ready for ITC claim.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1920240"/>
            <a:ext cx="40233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63440" y="1920240"/>
            <a:ext cx="4023360" cy="1645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937760" y="2331720"/>
            <a:ext cx="640080" cy="6400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4064" y="2478024"/>
            <a:ext cx="347472" cy="34747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760720" y="2286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576072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overheads &amp; bills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4937760" y="3108960"/>
            <a:ext cx="3474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Rent, salaries, utilities, marketing, software — categorized.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input captured separately. Feeds straight into your P&amp;L.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go straight into the dashboard P&amp;L — accurate gross margin, no spreadsheets.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029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502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· TRACK PROGRESS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777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P&amp;L and outstanding at a glance.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88720" y="129844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seconds, weekly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 that matter most — Bills issued and Payments received — plus drafts, outstanding and a 12-month P&amp;L trend.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7043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finalized but not yet fully paid.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42316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5603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22392" y="248716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(3 views).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Accrual, cash, and GST views from one screen.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3756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7043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drill in.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opens the underlying list.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09160" y="3200400"/>
            <a:ext cx="4023360" cy="68580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33756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22392" y="326440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selector.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month, last month, FY, custom dates.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Outstanding is your collect-this number. Check it weekly — receivables drift fast.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92608"/>
            <a:ext cx="91440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and audit handled — out of the box.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rules are baked in. You don't have to remember them.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606040" cy="123444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212848"/>
            <a:ext cx="283464" cy="28346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212140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of Supply auto-switch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dealers &amp; exempt supplies → "Bill of Supply" with Section 31(3)(c) citation.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46120" y="1920240"/>
            <a:ext cx="2606040" cy="123444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29000" y="2103120"/>
            <a:ext cx="502920" cy="50292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2212848"/>
            <a:ext cx="283464" cy="28346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23360" y="212140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charge handled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42900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shown as ₹0 with Rule 46(p) declaration. Customer self-assesses.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035040" y="1920240"/>
            <a:ext cx="2606040" cy="123444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2103120"/>
            <a:ext cx="502920" cy="50292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2212848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812280" y="212140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HSN-wise summary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21792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Auto-renders for invoices with multiple HSNs. GSTR-1 ready.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457200" y="3291840"/>
            <a:ext cx="2606040" cy="123444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584448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234440" y="349300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Books-locked enforcement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40080" y="4069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 period — backdated edits blocked across all vouchers.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3246120" y="3291840"/>
            <a:ext cx="2606040" cy="123444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29000" y="3474720"/>
            <a:ext cx="502920" cy="50292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8728" y="3584448"/>
            <a:ext cx="283464" cy="28346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023360" y="349300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FY-reset numbering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3429000" y="4069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prefix resets 1 April. Standard professional practice.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6035040" y="3291840"/>
            <a:ext cx="2606040" cy="1234440"/>
          </a:xfrm>
          <a:prstGeom prst="rect">
            <a:avLst/>
          </a:prstGeom>
          <a:solidFill>
            <a:srgbClr val="EEF3FC"/>
          </a:solidFill>
          <a:ln w="9525">
            <a:solidFill>
              <a:srgbClr val="DBE3F5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217920" y="3474720"/>
            <a:ext cx="502920" cy="50292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7648" y="3584448"/>
            <a:ext cx="283464" cy="28346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812280" y="349300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(Section 128)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6217920" y="4069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logged with user, IP, timestamp &amp; before/after.</a:t>
            </a:r>
            <a:endParaRPr lang="en-US" sz="950" dirty="0"/>
          </a:p>
        </p:txBody>
      </p:sp>
      <p:sp>
        <p:nvSpPr>
          <p:cNvPr id="37" name="Text 29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 Invoice  ·  apnainvoice.com</a:t>
            </a:r>
            <a:endParaRPr lang="en-US" sz="900" dirty="0"/>
          </a:p>
        </p:txBody>
      </p:sp>
      <p:sp>
        <p:nvSpPr>
          <p:cNvPr id="38" name="Text 30"/>
          <p:cNvSpPr/>
          <p:nvPr/>
        </p:nvSpPr>
        <p:spPr>
          <a:xfrm>
            <a:off x="7863840" y="4864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F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63440"/>
            <a:ext cx="9144000" cy="914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DB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make your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GST invoice?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during beta. No card. Unlimited invoices. Made in India.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1874520" cy="1417320"/>
          </a:xfrm>
          <a:prstGeom prst="rect">
            <a:avLst/>
          </a:prstGeom>
          <a:solidFill>
            <a:srgbClr val="162C6B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91440" cy="1417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2004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Sign up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7033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B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apnainvoice.com/register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2926080"/>
            <a:ext cx="1874520" cy="1417320"/>
          </a:xfrm>
          <a:prstGeom prst="rect">
            <a:avLst/>
          </a:prstGeom>
          <a:solidFill>
            <a:srgbClr val="162C6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2926080"/>
            <a:ext cx="91440" cy="1417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88920" y="32004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Set up business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88920" y="37033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B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3 minutes.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2926080"/>
            <a:ext cx="1874520" cy="1417320"/>
          </a:xfrm>
          <a:prstGeom prst="rect">
            <a:avLst/>
          </a:prstGeom>
          <a:solidFill>
            <a:srgbClr val="162C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2926080"/>
            <a:ext cx="91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32004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Add your customer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800600" y="37033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B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0" y="2926080"/>
            <a:ext cx="1874520" cy="1417320"/>
          </a:xfrm>
          <a:prstGeom prst="rect">
            <a:avLst/>
          </a:prstGeom>
          <a:solidFill>
            <a:srgbClr val="162C6B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0" y="2926080"/>
            <a:ext cx="91440" cy="1417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12280" y="32004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Issue first invoice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12280" y="37033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B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seconds.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apnainvoice.com  ·  Built by Datasoft Technologies  ·  Made in India 🇮🇳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Apna Invoice — Getting Started</dc:title>
  <dc:subject>How to use Apna Invoice — free GST invoice generator for India</dc:subject>
  <dc:creator>Apna Invoice · Datasoft Technologies</dc:creator>
  <cp:lastModifiedBy>Apna Invoice · Datasoft Technologies</cp:lastModifiedBy>
  <cp:revision>1</cp:revision>
  <dcterms:created xsi:type="dcterms:W3CDTF">2026-04-30T17:58:55Z</dcterms:created>
  <dcterms:modified xsi:type="dcterms:W3CDTF">2026-04-30T17:58:55Z</dcterms:modified>
</cp:coreProperties>
</file>